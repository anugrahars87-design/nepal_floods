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31752d2-6854-35b2-4060-4c1d030200fe}">
          <p14:sldIdLst>
            <p14:sldId id="256"/>
          </p14:sldIdLst>
        </p14:section>
        <p14:section name="Context" id="{fccbe7af-54d9-2bb8-fd5b-1f47d3dd349b}">
          <p14:sldIdLst>
            <p14:sldId id="257"/>
            <p14:sldId id="258"/>
          </p14:sldIdLst>
        </p14:section>
        <p14:section name="Method" id="{5043995b-5820-94b1-34a6-0e61b34eceac}">
          <p14:sldIdLst>
            <p14:sldId id="259"/>
          </p14:sldIdLst>
        </p14:section>
        <p14:section name="Results" id="{442d8754-eac2-26dc-2b4d-2fb9adc45b87}">
          <p14:sldIdLst>
            <p14:sldId id="260"/>
            <p14:sldId id="261"/>
            <p14:sldId id="262"/>
            <p14:sldId id="263"/>
          </p14:sldIdLst>
        </p14:section>
        <p14:section name="Next" id="{a6bdeb63-76bf-f744-bccd-ef1510bcc9e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2A4A"/>
                </a:solidFill>
                <a:latin typeface="+mn-lt"/>
              </a:rPr>
              <a:t>R² on test set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A3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A4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A4C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0.9196</c:v>
                </c:pt>
                <c:pt idx="1">
                  <c:v>0.8787</c:v>
                </c:pt>
                <c:pt idx="2">
                  <c:v>0.7314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400" u="none">
                  <a:solidFill>
                    <a:srgbClr val="0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2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5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A4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2A4A"/>
                </a:solidFill>
                <a:latin typeface="+mn-lt"/>
              </a:rPr>
              <a:t>Decision Tree feature importance, top 10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4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River discharge</c:v>
                  </c:pt>
                  <c:pt idx="1">
                    <c:v>Soil moisture</c:v>
                  </c:pt>
                  <c:pt idx="2">
                    <c:v>Precipitation</c:v>
                  </c:pt>
                  <c:pt idx="3">
                    <c:v>Dew point</c:v>
                  </c:pt>
                  <c:pt idx="4">
                    <c:v>Month</c:v>
                  </c:pt>
                  <c:pt idx="5">
                    <c:v>Temperature</c:v>
                  </c:pt>
                  <c:pt idx="6">
                    <c:v>Precip. hours</c:v>
                  </c:pt>
                  <c:pt idx="7">
                    <c:v>Rain</c:v>
                  </c:pt>
                  <c:pt idx="8">
                    <c:v>Wind speed max</c:v>
                  </c:pt>
                  <c:pt idx="9">
                    <c:v>Humidity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0.8313</c:v>
                </c:pt>
                <c:pt idx="1">
                  <c:v>0.0678</c:v>
                </c:pt>
                <c:pt idx="2">
                  <c:v>0.0642</c:v>
                </c:pt>
                <c:pt idx="3">
                  <c:v>0.008</c:v>
                </c:pt>
                <c:pt idx="4">
                  <c:v>0.0069</c:v>
                </c:pt>
                <c:pt idx="5">
                  <c:v>0.0068</c:v>
                </c:pt>
                <c:pt idx="6">
                  <c:v>0.0056</c:v>
                </c:pt>
                <c:pt idx="7">
                  <c:v>0.003</c:v>
                </c:pt>
                <c:pt idx="8">
                  <c:v>0.0022</c:v>
                </c:pt>
                <c:pt idx="9">
                  <c:v>0.0017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0B2A4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2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two ML tasks on the same Nepal river dataset — classify high-flow days and predict next-day discharge.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the current best for next-day discharge (R² 0.92). Classification scores need the leakage and date fixes before they mean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Nepal River Flood Prediction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Machine learning on daily weather and river-discharge data, 2023–2026</a:t>
            </a:r>
            <a:endParaRPr lang="en-US" sz="2200" dirty="0"/>
          </a:p>
        </p:txBody>
      </p:sp>
      <p:sp>
        <p:nvSpPr>
          <p:cNvPr id="4" name="Motif circle 1"/>
          <p:cNvSpPr/>
          <p:nvPr/>
        </p:nvSpPr>
        <p:spPr>
          <a:xfrm>
            <a:off x="9418320" y="822960"/>
            <a:ext cx="2011680" cy="2011680"/>
          </a:xfrm>
          <a:prstGeom prst="ellips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5" name="Motif circle 2"/>
          <p:cNvSpPr/>
          <p:nvPr/>
        </p:nvSpPr>
        <p:spPr>
          <a:xfrm>
            <a:off x="10241280" y="1737360"/>
            <a:ext cx="1188720" cy="1188720"/>
          </a:xfrm>
          <a:prstGeom prst="ellipse">
            <a:avLst/>
          </a:prstGeom>
          <a:solidFill>
            <a:schemeClr val="accent4">
              <a:alpha val="75000"/>
            </a:schemeClr>
          </a:solidFill>
          <a:ln/>
        </p:spPr>
      </p:sp>
      <p:sp>
        <p:nvSpPr>
          <p:cNvPr id="6" name="Motif circle 3"/>
          <p:cNvSpPr/>
          <p:nvPr/>
        </p:nvSpPr>
        <p:spPr>
          <a:xfrm>
            <a:off x="9052560" y="2194560"/>
            <a:ext cx="640080" cy="640080"/>
          </a:xfrm>
          <a:prstGeom prst="ellipse">
            <a:avLst/>
          </a:prstGeom>
          <a:solidFill>
            <a:schemeClr val="accent2">
              <a:alpha val="75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Two questions, one dataset</a:t>
            </a:r>
            <a:endParaRPr lang="en-US" sz="3600" dirty="0"/>
          </a:p>
        </p:txBody>
      </p:sp>
      <p:sp>
        <p:nvSpPr>
          <p:cNvPr id="3" name="Stat 1 card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4" name="Stat 1 value"/>
          <p:cNvSpPr txBox="1"/>
          <p:nvPr/>
        </p:nvSpPr>
        <p:spPr>
          <a:xfrm>
            <a:off x="731520" y="16459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13,390</a:t>
            </a:r>
            <a:endParaRPr lang="en-US" sz="40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23591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daily records</a:t>
            </a:r>
            <a:endParaRPr lang="en-US" sz="1500" dirty="0"/>
          </a:p>
        </p:txBody>
      </p:sp>
      <p:sp>
        <p:nvSpPr>
          <p:cNvPr id="6" name="Stat 2 card"/>
          <p:cNvSpPr/>
          <p:nvPr/>
        </p:nvSpPr>
        <p:spPr>
          <a:xfrm>
            <a:off x="3377184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Stat 2 value"/>
          <p:cNvSpPr txBox="1"/>
          <p:nvPr/>
        </p:nvSpPr>
        <p:spPr>
          <a:xfrm>
            <a:off x="3560064" y="16459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60064" y="23591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river stations</a:t>
            </a:r>
            <a:endParaRPr lang="en-US" sz="1500" dirty="0"/>
          </a:p>
        </p:txBody>
      </p:sp>
      <p:sp>
        <p:nvSpPr>
          <p:cNvPr id="9" name="Stat 3 card"/>
          <p:cNvSpPr/>
          <p:nvPr/>
        </p:nvSpPr>
        <p:spPr>
          <a:xfrm>
            <a:off x="6205728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Stat 3 value"/>
          <p:cNvSpPr txBox="1"/>
          <p:nvPr/>
        </p:nvSpPr>
        <p:spPr>
          <a:xfrm>
            <a:off x="6388608" y="16459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2023–26</a:t>
            </a:r>
            <a:endParaRPr lang="en-US" sz="4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388608" y="23591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Jan 2023 to Aug 2026</a:t>
            </a:r>
            <a:endParaRPr lang="en-US" sz="1500" dirty="0"/>
          </a:p>
        </p:txBody>
      </p:sp>
      <p:sp>
        <p:nvSpPr>
          <p:cNvPr id="12" name="Stat 4 card"/>
          <p:cNvSpPr/>
          <p:nvPr/>
        </p:nvSpPr>
        <p:spPr>
          <a:xfrm>
            <a:off x="9034272" y="150876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Stat 4 value"/>
          <p:cNvSpPr txBox="1"/>
          <p:nvPr/>
        </p:nvSpPr>
        <p:spPr>
          <a:xfrm>
            <a:off x="9217152" y="164592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17152" y="23591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weather and terrain inputs</a:t>
            </a:r>
            <a:endParaRPr lang="en-US" sz="1500" dirty="0"/>
          </a:p>
        </p:txBody>
      </p:sp>
      <p:sp>
        <p:nvSpPr>
          <p:cNvPr id="15" name="Classification card"/>
          <p:cNvSpPr/>
          <p:nvPr/>
        </p:nvSpPr>
        <p:spPr>
          <a:xfrm>
            <a:off x="548640" y="320040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6" name="Classification heading"/>
          <p:cNvSpPr txBox="1"/>
          <p:nvPr/>
        </p:nvSpPr>
        <p:spPr>
          <a:xfrm>
            <a:off x="822960" y="333756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2400" dirty="0"/>
          </a:p>
        </p:txBody>
      </p:sp>
      <p:sp>
        <p:nvSpPr>
          <p:cNvPr id="17" name="Classification question"/>
          <p:cNvSpPr txBox="1"/>
          <p:nvPr/>
        </p:nvSpPr>
        <p:spPr>
          <a:xfrm>
            <a:off x="822960" y="37947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Is the river in a high-flow state?</a:t>
            </a:r>
            <a:endParaRPr lang="en-US" sz="1600" dirty="0"/>
          </a:p>
        </p:txBody>
      </p:sp>
      <p:sp>
        <p:nvSpPr>
          <p:cNvPr id="18" name="Classification bullets"/>
          <p:cNvSpPr txBox="1"/>
          <p:nvPr/>
        </p:nvSpPr>
        <p:spPr>
          <a:xfrm>
            <a:off x="822960" y="4297680"/>
            <a:ext cx="48600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discharge ≥ 90th percentile (27.84 m³/s)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Binary label, about 10% of rows are high-flow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Models: Logistic Regression, Decision Tree, Random Forest</a:t>
            </a:r>
            <a:endParaRPr lang="en-US" sz="1600" dirty="0"/>
          </a:p>
        </p:txBody>
      </p:sp>
      <p:sp>
        <p:nvSpPr>
          <p:cNvPr id="19" name="Regression card"/>
          <p:cNvSpPr/>
          <p:nvPr/>
        </p:nvSpPr>
        <p:spPr>
          <a:xfrm>
            <a:off x="6231636" y="320040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0" name="Regression heading"/>
          <p:cNvSpPr txBox="1"/>
          <p:nvPr/>
        </p:nvSpPr>
        <p:spPr>
          <a:xfrm>
            <a:off x="6505956" y="333756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21" name="Regression question"/>
          <p:cNvSpPr txBox="1"/>
          <p:nvPr/>
        </p:nvSpPr>
        <p:spPr>
          <a:xfrm>
            <a:off x="6505956" y="379476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How much water will flow tomorrow?</a:t>
            </a:r>
            <a:endParaRPr lang="en-US" sz="1600" dirty="0"/>
          </a:p>
        </p:txBody>
      </p:sp>
      <p:sp>
        <p:nvSpPr>
          <p:cNvPr id="22" name="Regression bullets"/>
          <p:cNvSpPr txBox="1"/>
          <p:nvPr/>
        </p:nvSpPr>
        <p:spPr>
          <a:xfrm>
            <a:off x="6505956" y="4297680"/>
            <a:ext cx="48600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Target: next day’s discharge in m³/s, per station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Continuous value, range 0 to 3,176 m³/s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Models: Linear Regression, Random Forest, Decision Tree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Ten stations across Nepal’s major basins</a:t>
            </a:r>
            <a:endParaRPr lang="en-US" sz="3600" dirty="0"/>
          </a:p>
        </p:txBody>
      </p:sp>
      <p:graphicFrame>
        <p:nvGraphicFramePr>
          <p:cNvPr id="4" name="St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0116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Station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River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Basin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Bahrabise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Bhote Koshi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Koshi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Belsot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Kamala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Kamala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Bhada Bridge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Babai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Babai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Chameliya/Nayalbadi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Chamelia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Mahakali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Chatara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Saptakoshi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Koshi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Chisapani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Karnali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Karnali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Devghat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Narayani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Narayani/Gandak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Khokana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Bagmati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Bagmati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Kusum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West Rapti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Rapti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Rasuwagadhi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Bhote Koshi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Narayani</a:t>
                      </a:r>
                      <a:endParaRPr lang="en-US" sz="15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Inputs card"/>
          <p:cNvSpPr/>
          <p:nvPr/>
        </p:nvSpPr>
        <p:spPr>
          <a:xfrm>
            <a:off x="7315200" y="1508760"/>
            <a:ext cx="4325112" cy="4325112"/>
          </a:xfrm>
          <a:prstGeom prst="roundRect">
            <a:avLst>
              <a:gd name="adj" fmla="val 2537"/>
            </a:avLst>
          </a:prstGeom>
          <a:solidFill>
            <a:schemeClr val="bg2"/>
          </a:solidFill>
          <a:ln/>
        </p:spPr>
      </p:sp>
      <p:sp>
        <p:nvSpPr>
          <p:cNvPr id="5" name="Inputs heading"/>
          <p:cNvSpPr txBox="1"/>
          <p:nvPr/>
        </p:nvSpPr>
        <p:spPr>
          <a:xfrm>
            <a:off x="75895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inputs</a:t>
            </a:r>
            <a:endParaRPr lang="en-US" sz="2200" dirty="0"/>
          </a:p>
        </p:txBody>
      </p:sp>
      <p:sp>
        <p:nvSpPr>
          <p:cNvPr id="6" name="Inputs list"/>
          <p:cNvSpPr txBox="1"/>
          <p:nvPr/>
        </p:nvSpPr>
        <p:spPr>
          <a:xfrm>
            <a:off x="7589520" y="21945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Precipitation, rain, precipitation hours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Soil moisture (0–100 cm)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Temperature and dew point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Relative humidity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Wind speed, gusts, direction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Elevation and month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Current river discharge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Station, river, basin (one-hot)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raw data to evaluated models</a:t>
            </a:r>
            <a:endParaRPr lang="en-US" sz="3600" dirty="0"/>
          </a:p>
        </p:txBody>
      </p:sp>
      <p:sp>
        <p:nvSpPr>
          <p:cNvPr id="3" name="Step 1 badge"/>
          <p:cNvSpPr/>
          <p:nvPr/>
        </p:nvSpPr>
        <p:spPr>
          <a:xfrm>
            <a:off x="1143000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11430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tep 1 card"/>
          <p:cNvSpPr/>
          <p:nvPr/>
        </p:nvSpPr>
        <p:spPr>
          <a:xfrm>
            <a:off x="548640" y="2743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6" name="Step 1 title"/>
          <p:cNvSpPr txBox="1"/>
          <p:nvPr/>
        </p:nvSpPr>
        <p:spPr>
          <a:xfrm>
            <a:off x="73152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clean</a:t>
            </a:r>
            <a:endParaRPr lang="en-US" sz="1800" dirty="0"/>
          </a:p>
        </p:txBody>
      </p:sp>
      <p:sp>
        <p:nvSpPr>
          <p:cNvPr id="7" name="Step 1 text"/>
          <p:cNvSpPr txBox="1"/>
          <p:nvPr/>
        </p:nvSpPr>
        <p:spPr>
          <a:xfrm>
            <a:off x="731520" y="342900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 duplicates and nulls (none found). Parse dates, drop unparseable rows.</a:t>
            </a:r>
            <a:endParaRPr lang="en-US" sz="1600" dirty="0"/>
          </a:p>
        </p:txBody>
      </p:sp>
      <p:sp>
        <p:nvSpPr>
          <p:cNvPr id="8" name="Step 2 badge"/>
          <p:cNvSpPr/>
          <p:nvPr/>
        </p:nvSpPr>
        <p:spPr>
          <a:xfrm>
            <a:off x="3412998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tep 2 number"/>
          <p:cNvSpPr txBox="1"/>
          <p:nvPr/>
        </p:nvSpPr>
        <p:spPr>
          <a:xfrm>
            <a:off x="3412998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tep 2 card"/>
          <p:cNvSpPr/>
          <p:nvPr/>
        </p:nvSpPr>
        <p:spPr>
          <a:xfrm>
            <a:off x="2818638" y="2743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Step 2 title"/>
          <p:cNvSpPr txBox="1"/>
          <p:nvPr/>
        </p:nvSpPr>
        <p:spPr>
          <a:xfrm>
            <a:off x="3001518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targets</a:t>
            </a:r>
            <a:endParaRPr lang="en-US" sz="1800" dirty="0"/>
          </a:p>
        </p:txBody>
      </p:sp>
      <p:sp>
        <p:nvSpPr>
          <p:cNvPr id="12" name="Step 2 text"/>
          <p:cNvSpPr txBox="1"/>
          <p:nvPr/>
        </p:nvSpPr>
        <p:spPr>
          <a:xfrm>
            <a:off x="3001518" y="342900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High-flow flag at the 90th percentile; next-day discharge via per-station shift.</a:t>
            </a:r>
            <a:endParaRPr lang="en-US" sz="1600" dirty="0"/>
          </a:p>
        </p:txBody>
      </p:sp>
      <p:sp>
        <p:nvSpPr>
          <p:cNvPr id="13" name="Step 3 badge"/>
          <p:cNvSpPr/>
          <p:nvPr/>
        </p:nvSpPr>
        <p:spPr>
          <a:xfrm>
            <a:off x="5682996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ep 3 number"/>
          <p:cNvSpPr txBox="1"/>
          <p:nvPr/>
        </p:nvSpPr>
        <p:spPr>
          <a:xfrm>
            <a:off x="5682996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tep 3 card"/>
          <p:cNvSpPr/>
          <p:nvPr/>
        </p:nvSpPr>
        <p:spPr>
          <a:xfrm>
            <a:off x="5088636" y="2743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Step 3 title"/>
          <p:cNvSpPr txBox="1"/>
          <p:nvPr/>
        </p:nvSpPr>
        <p:spPr>
          <a:xfrm>
            <a:off x="5271516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7" name="Step 3 text"/>
          <p:cNvSpPr txBox="1"/>
          <p:nvPr/>
        </p:nvSpPr>
        <p:spPr>
          <a:xfrm>
            <a:off x="5271516" y="342900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Numeric weather inputs plus month; one-hot encode station, river and basin.</a:t>
            </a:r>
            <a:endParaRPr lang="en-US" sz="1600" dirty="0"/>
          </a:p>
        </p:txBody>
      </p:sp>
      <p:sp>
        <p:nvSpPr>
          <p:cNvPr id="18" name="Step 4 badge"/>
          <p:cNvSpPr/>
          <p:nvPr/>
        </p:nvSpPr>
        <p:spPr>
          <a:xfrm>
            <a:off x="7952994" y="1645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4 number"/>
          <p:cNvSpPr txBox="1"/>
          <p:nvPr/>
        </p:nvSpPr>
        <p:spPr>
          <a:xfrm>
            <a:off x="7952994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Step 4 card"/>
          <p:cNvSpPr/>
          <p:nvPr/>
        </p:nvSpPr>
        <p:spPr>
          <a:xfrm>
            <a:off x="7358634" y="2743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1" name="Step 4 title"/>
          <p:cNvSpPr txBox="1"/>
          <p:nvPr/>
        </p:nvSpPr>
        <p:spPr>
          <a:xfrm>
            <a:off x="7541514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models</a:t>
            </a:r>
            <a:endParaRPr lang="en-US" sz="1800" dirty="0"/>
          </a:p>
        </p:txBody>
      </p:sp>
      <p:sp>
        <p:nvSpPr>
          <p:cNvPr id="22" name="Step 4 text"/>
          <p:cNvSpPr txBox="1"/>
          <p:nvPr/>
        </p:nvSpPr>
        <p:spPr>
          <a:xfrm>
            <a:off x="7541514" y="342900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Linear/logistic, Decision Tree, Random Forest. 80/20 split, seed 42.</a:t>
            </a:r>
            <a:endParaRPr lang="en-US" sz="1600" dirty="0"/>
          </a:p>
        </p:txBody>
      </p:sp>
      <p:sp>
        <p:nvSpPr>
          <p:cNvPr id="23" name="Step 5 badge"/>
          <p:cNvSpPr/>
          <p:nvPr/>
        </p:nvSpPr>
        <p:spPr>
          <a:xfrm>
            <a:off x="10222992" y="164592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Step 5 number"/>
          <p:cNvSpPr txBox="1"/>
          <p:nvPr/>
        </p:nvSpPr>
        <p:spPr>
          <a:xfrm>
            <a:off x="10222992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Step 5 card"/>
          <p:cNvSpPr/>
          <p:nvPr/>
        </p:nvSpPr>
        <p:spPr>
          <a:xfrm>
            <a:off x="9628632" y="2743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6" name="Step 5 title"/>
          <p:cNvSpPr txBox="1"/>
          <p:nvPr/>
        </p:nvSpPr>
        <p:spPr>
          <a:xfrm>
            <a:off x="9811512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800" dirty="0"/>
          </a:p>
        </p:txBody>
      </p:sp>
      <p:sp>
        <p:nvSpPr>
          <p:cNvPr id="27" name="Step 5 text"/>
          <p:cNvSpPr txBox="1"/>
          <p:nvPr/>
        </p:nvSpPr>
        <p:spPr>
          <a:xfrm>
            <a:off x="9811512" y="342900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Accuracy, precision, recall, F1; MSE, MAE, RMSE, R²; error and importance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Classification: all three models score 99.9%</a:t>
            </a:r>
            <a:endParaRPr lang="en-US" sz="3600" dirty="0"/>
          </a:p>
        </p:txBody>
      </p:sp>
      <p:sp>
        <p:nvSpPr>
          <p:cNvPr id="3" name="Matrix caption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Confusion matrix, Logistic Regression (test set, n = 1,056)</a:t>
            </a:r>
            <a:endParaRPr lang="en-US" sz="1400" dirty="0"/>
          </a:p>
        </p:txBody>
      </p:sp>
      <p:sp>
        <p:nvSpPr>
          <p:cNvPr id="4" name="Col label 1"/>
          <p:cNvSpPr txBox="1"/>
          <p:nvPr/>
        </p:nvSpPr>
        <p:spPr>
          <a:xfrm>
            <a:off x="155448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Predicted normal</a:t>
            </a:r>
            <a:endParaRPr lang="en-US" sz="1300" dirty="0"/>
          </a:p>
        </p:txBody>
      </p:sp>
      <p:sp>
        <p:nvSpPr>
          <p:cNvPr id="5" name="Col label 2"/>
          <p:cNvSpPr txBox="1"/>
          <p:nvPr/>
        </p:nvSpPr>
        <p:spPr>
          <a:xfrm>
            <a:off x="361188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Predicted high</a:t>
            </a:r>
            <a:endParaRPr lang="en-US" sz="1300" dirty="0"/>
          </a:p>
        </p:txBody>
      </p:sp>
      <p:sp>
        <p:nvSpPr>
          <p:cNvPr id="6" name="Row label 1"/>
          <p:cNvSpPr txBox="1"/>
          <p:nvPr/>
        </p:nvSpPr>
        <p:spPr>
          <a:xfrm>
            <a:off x="548640" y="233172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Actual normal</a:t>
            </a:r>
            <a:endParaRPr lang="en-US" sz="1300" dirty="0"/>
          </a:p>
        </p:txBody>
      </p:sp>
      <p:sp>
        <p:nvSpPr>
          <p:cNvPr id="7" name="Row label 2"/>
          <p:cNvSpPr txBox="1"/>
          <p:nvPr/>
        </p:nvSpPr>
        <p:spPr>
          <a:xfrm>
            <a:off x="548640" y="393192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Actual high</a:t>
            </a:r>
            <a:endParaRPr lang="en-US" sz="1300" dirty="0"/>
          </a:p>
        </p:txBody>
      </p:sp>
      <p:sp>
        <p:nvSpPr>
          <p:cNvPr id="8" name="Matrix cell 1"/>
          <p:cNvSpPr/>
          <p:nvPr/>
        </p:nvSpPr>
        <p:spPr>
          <a:xfrm>
            <a:off x="1554480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9" name="Matrix value 1"/>
          <p:cNvSpPr txBox="1"/>
          <p:nvPr/>
        </p:nvSpPr>
        <p:spPr>
          <a:xfrm>
            <a:off x="155448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961</a:t>
            </a:r>
            <a:endParaRPr lang="en-US" sz="4000" dirty="0"/>
          </a:p>
        </p:txBody>
      </p:sp>
      <p:sp>
        <p:nvSpPr>
          <p:cNvPr id="10" name="Matrix label 1"/>
          <p:cNvSpPr txBox="1"/>
          <p:nvPr/>
        </p:nvSpPr>
        <p:spPr>
          <a:xfrm>
            <a:off x="155448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True negative</a:t>
            </a:r>
            <a:endParaRPr lang="en-US" sz="1300" dirty="0"/>
          </a:p>
        </p:txBody>
      </p:sp>
      <p:sp>
        <p:nvSpPr>
          <p:cNvPr id="11" name="Matrix cell 2"/>
          <p:cNvSpPr/>
          <p:nvPr/>
        </p:nvSpPr>
        <p:spPr>
          <a:xfrm>
            <a:off x="3611880" y="2331720"/>
            <a:ext cx="196596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sp>
        <p:nvSpPr>
          <p:cNvPr id="12" name="Matrix value 2"/>
          <p:cNvSpPr txBox="1"/>
          <p:nvPr/>
        </p:nvSpPr>
        <p:spPr>
          <a:xfrm>
            <a:off x="3611880" y="25146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Matrix label 2"/>
          <p:cNvSpPr txBox="1"/>
          <p:nvPr/>
        </p:nvSpPr>
        <p:spPr>
          <a:xfrm>
            <a:off x="361188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positive</a:t>
            </a:r>
            <a:endParaRPr lang="en-US" sz="1300" dirty="0"/>
          </a:p>
        </p:txBody>
      </p:sp>
      <p:sp>
        <p:nvSpPr>
          <p:cNvPr id="14" name="Matrix cell 3"/>
          <p:cNvSpPr/>
          <p:nvPr/>
        </p:nvSpPr>
        <p:spPr>
          <a:xfrm>
            <a:off x="1554480" y="3931920"/>
            <a:ext cx="1965960" cy="146304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/>
        </p:spPr>
      </p:sp>
      <p:sp>
        <p:nvSpPr>
          <p:cNvPr id="15" name="Matrix value 3"/>
          <p:cNvSpPr txBox="1"/>
          <p:nvPr/>
        </p:nvSpPr>
        <p:spPr>
          <a:xfrm>
            <a:off x="1554480" y="4114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6" name="Matrix label 3"/>
          <p:cNvSpPr txBox="1"/>
          <p:nvPr/>
        </p:nvSpPr>
        <p:spPr>
          <a:xfrm>
            <a:off x="155448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False negative</a:t>
            </a:r>
            <a:endParaRPr lang="en-US" sz="1300" dirty="0"/>
          </a:p>
        </p:txBody>
      </p:sp>
      <p:sp>
        <p:nvSpPr>
          <p:cNvPr id="17" name="Matrix cell 4"/>
          <p:cNvSpPr/>
          <p:nvPr/>
        </p:nvSpPr>
        <p:spPr>
          <a:xfrm>
            <a:off x="3611880" y="3931920"/>
            <a:ext cx="196596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18" name="Matrix value 4"/>
          <p:cNvSpPr txBox="1"/>
          <p:nvPr/>
        </p:nvSpPr>
        <p:spPr>
          <a:xfrm>
            <a:off x="3611880" y="4114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4000" dirty="0"/>
          </a:p>
        </p:txBody>
      </p:sp>
      <p:sp>
        <p:nvSpPr>
          <p:cNvPr id="19" name="Matrix label 4"/>
          <p:cNvSpPr txBox="1"/>
          <p:nvPr/>
        </p:nvSpPr>
        <p:spPr>
          <a:xfrm>
            <a:off x="3611880" y="4892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True positive</a:t>
            </a:r>
            <a:endParaRPr lang="en-US" sz="1300" dirty="0"/>
          </a:p>
        </p:txBody>
      </p:sp>
      <p:sp>
        <p:nvSpPr>
          <p:cNvPr id="20" name="Metric 1 card"/>
          <p:cNvSpPr/>
          <p:nvPr/>
        </p:nvSpPr>
        <p:spPr>
          <a:xfrm>
            <a:off x="6309360" y="15087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1" name="Metric 1 value"/>
          <p:cNvSpPr txBox="1"/>
          <p:nvPr/>
        </p:nvSpPr>
        <p:spPr>
          <a:xfrm>
            <a:off x="6492240" y="1645920"/>
            <a:ext cx="224028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000" dirty="0"/>
          </a:p>
        </p:txBody>
      </p:sp>
      <p:sp>
        <p:nvSpPr>
          <p:cNvPr id="22" name="Metric 1 label"/>
          <p:cNvSpPr txBox="1"/>
          <p:nvPr/>
        </p:nvSpPr>
        <p:spPr>
          <a:xfrm>
            <a:off x="6492240" y="2549347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Accuracy</a:t>
            </a:r>
            <a:endParaRPr lang="en-US" sz="1500" dirty="0"/>
          </a:p>
        </p:txBody>
      </p:sp>
      <p:sp>
        <p:nvSpPr>
          <p:cNvPr id="23" name="Metric 2 card"/>
          <p:cNvSpPr/>
          <p:nvPr/>
        </p:nvSpPr>
        <p:spPr>
          <a:xfrm>
            <a:off x="9052560" y="150876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4" name="Metric 2 value"/>
          <p:cNvSpPr txBox="1"/>
          <p:nvPr/>
        </p:nvSpPr>
        <p:spPr>
          <a:xfrm>
            <a:off x="9235440" y="1645920"/>
            <a:ext cx="224028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98.9%</a:t>
            </a:r>
            <a:endParaRPr lang="en-US" sz="4000" dirty="0"/>
          </a:p>
        </p:txBody>
      </p:sp>
      <p:sp>
        <p:nvSpPr>
          <p:cNvPr id="25" name="Metric 2 label"/>
          <p:cNvSpPr txBox="1"/>
          <p:nvPr/>
        </p:nvSpPr>
        <p:spPr>
          <a:xfrm>
            <a:off x="9235440" y="2549347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Precision</a:t>
            </a:r>
            <a:endParaRPr lang="en-US" sz="1500" dirty="0"/>
          </a:p>
        </p:txBody>
      </p:sp>
      <p:sp>
        <p:nvSpPr>
          <p:cNvPr id="26" name="Metric 3 card"/>
          <p:cNvSpPr/>
          <p:nvPr/>
        </p:nvSpPr>
        <p:spPr>
          <a:xfrm>
            <a:off x="6309360" y="34290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/>
        </p:spPr>
      </p:sp>
      <p:sp>
        <p:nvSpPr>
          <p:cNvPr id="27" name="Metric 3 value"/>
          <p:cNvSpPr txBox="1"/>
          <p:nvPr/>
        </p:nvSpPr>
        <p:spPr>
          <a:xfrm>
            <a:off x="6492240" y="3566160"/>
            <a:ext cx="224028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8" name="Metric 3 label"/>
          <p:cNvSpPr txBox="1"/>
          <p:nvPr/>
        </p:nvSpPr>
        <p:spPr>
          <a:xfrm>
            <a:off x="6492240" y="4469587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Recall</a:t>
            </a:r>
            <a:endParaRPr lang="en-US" sz="1500" dirty="0"/>
          </a:p>
        </p:txBody>
      </p:sp>
      <p:sp>
        <p:nvSpPr>
          <p:cNvPr id="29" name="Metric 4 card"/>
          <p:cNvSpPr/>
          <p:nvPr/>
        </p:nvSpPr>
        <p:spPr>
          <a:xfrm>
            <a:off x="9052560" y="3429000"/>
            <a:ext cx="26060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0" name="Metric 4 value"/>
          <p:cNvSpPr txBox="1"/>
          <p:nvPr/>
        </p:nvSpPr>
        <p:spPr>
          <a:xfrm>
            <a:off x="9235440" y="3566160"/>
            <a:ext cx="224028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</a:t>
            </a:r>
            <a:endParaRPr lang="en-US" sz="4000" dirty="0"/>
          </a:p>
        </p:txBody>
      </p:sp>
      <p:sp>
        <p:nvSpPr>
          <p:cNvPr id="31" name="Metric 4 label"/>
          <p:cNvSpPr txBox="1"/>
          <p:nvPr/>
        </p:nvSpPr>
        <p:spPr>
          <a:xfrm>
            <a:off x="9235440" y="4469587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F1 score</a:t>
            </a:r>
            <a:endParaRPr lang="en-US" sz="1500" dirty="0"/>
          </a:p>
        </p:txBody>
      </p:sp>
      <p:sp>
        <p:nvSpPr>
          <p:cNvPr id="32" name="Caution card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33" name="Caution text"/>
          <p:cNvSpPr txBox="1"/>
          <p:nvPr/>
        </p:nvSpPr>
        <p:spPr>
          <a:xfrm>
            <a:off x="777240" y="562356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Scores are identical across models and unusually high; see the caveats slide for why.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Regression: Linear Regression leads on R²</a:t>
            </a:r>
            <a:endParaRPr lang="en-US" sz="3600" dirty="0"/>
          </a:p>
        </p:txBody>
      </p:sp>
      <p:graphicFrame>
        <p:nvGraphicFramePr>
          <p:cNvPr id="3" name="R2 chart" descr=""/>
          <p:cNvGraphicFramePr/>
          <p:nvPr/>
        </p:nvGraphicFramePr>
        <p:xfrm>
          <a:off x="548640" y="150876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Err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00200"/>
          <a:ext cx="48737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307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RMSE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22.45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6.69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27.59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3.21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Decision Tree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41.05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4.10</a:t>
                      </a:r>
                      <a:endParaRPr lang="en-US" sz="16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Insight card"/>
          <p:cNvSpPr/>
          <p:nvPr/>
        </p:nvSpPr>
        <p:spPr>
          <a:xfrm>
            <a:off x="6766560" y="3840480"/>
            <a:ext cx="4873752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6" name="Insight heading"/>
          <p:cNvSpPr txBox="1"/>
          <p:nvPr/>
        </p:nvSpPr>
        <p:spPr>
          <a:xfrm>
            <a:off x="704088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vs. extreme days</a:t>
            </a:r>
            <a:endParaRPr lang="en-US" sz="1800" dirty="0"/>
          </a:p>
        </p:txBody>
      </p:sp>
      <p:sp>
        <p:nvSpPr>
          <p:cNvPr id="7" name="Insight text"/>
          <p:cNvSpPr txBox="1"/>
          <p:nvPr/>
        </p:nvSpPr>
        <p:spPr>
          <a:xfrm>
            <a:off x="7040880" y="44348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Linear Regression has the lowest RMSE (22.45) and highest R² (0.92). Random Forest has the lowest MAE (3.21): closer on ordinary days, but larger misses on peaks.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Today’s discharge drives tomorrow’s</a:t>
            </a:r>
            <a:endParaRPr lang="en-US" sz="3600" dirty="0"/>
          </a:p>
        </p:txBody>
      </p:sp>
      <p:graphicFrame>
        <p:nvGraphicFramePr>
          <p:cNvPr id="3" name="Importance chart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 1 card"/>
          <p:cNvSpPr/>
          <p:nvPr/>
        </p:nvSpPr>
        <p:spPr>
          <a:xfrm>
            <a:off x="7680960" y="150876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5" name="Takeaway 1 value"/>
          <p:cNvSpPr txBox="1"/>
          <p:nvPr/>
        </p:nvSpPr>
        <p:spPr>
          <a:xfrm>
            <a:off x="7909560" y="160020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200" dirty="0"/>
          </a:p>
        </p:txBody>
      </p:sp>
      <p:sp>
        <p:nvSpPr>
          <p:cNvPr id="6" name="Takeaway 1 text"/>
          <p:cNvSpPr txBox="1"/>
          <p:nvPr/>
        </p:nvSpPr>
        <p:spPr>
          <a:xfrm>
            <a:off x="9281160" y="16002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of importance is current discharge: flow is highly persistent day to day</a:t>
            </a:r>
            <a:endParaRPr lang="en-US" sz="1300" dirty="0"/>
          </a:p>
        </p:txBody>
      </p:sp>
      <p:sp>
        <p:nvSpPr>
          <p:cNvPr id="7" name="Takeaway 2 card"/>
          <p:cNvSpPr/>
          <p:nvPr/>
        </p:nvSpPr>
        <p:spPr>
          <a:xfrm>
            <a:off x="7680960" y="306324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akeaway 2 value"/>
          <p:cNvSpPr txBox="1"/>
          <p:nvPr/>
        </p:nvSpPr>
        <p:spPr>
          <a:xfrm>
            <a:off x="7909560" y="31546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3200" dirty="0"/>
          </a:p>
        </p:txBody>
      </p:sp>
      <p:sp>
        <p:nvSpPr>
          <p:cNvPr id="9" name="Takeaway 2 text"/>
          <p:cNvSpPr txBox="1"/>
          <p:nvPr/>
        </p:nvSpPr>
        <p:spPr>
          <a:xfrm>
            <a:off x="9281160" y="31546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comes from soil moisture and precipitation combined</a:t>
            </a:r>
            <a:endParaRPr lang="en-US" sz="1300" dirty="0"/>
          </a:p>
        </p:txBody>
      </p:sp>
      <p:sp>
        <p:nvSpPr>
          <p:cNvPr id="10" name="Takeaway 3 card"/>
          <p:cNvSpPr/>
          <p:nvPr/>
        </p:nvSpPr>
        <p:spPr>
          <a:xfrm>
            <a:off x="7680960" y="461772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akeaway 3 value"/>
          <p:cNvSpPr txBox="1"/>
          <p:nvPr/>
        </p:nvSpPr>
        <p:spPr>
          <a:xfrm>
            <a:off x="7909560" y="470916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200" dirty="0"/>
          </a:p>
        </p:txBody>
      </p:sp>
      <p:sp>
        <p:nvSpPr>
          <p:cNvPr id="12" name="Takeaway 3 text"/>
          <p:cNvSpPr txBox="1"/>
          <p:nvPr/>
        </p:nvSpPr>
        <p:spPr>
          <a:xfrm>
            <a:off x="9281160" y="47091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for temperature, wind, humidity and month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Largest misses are monsoon peaks at Kusum</a:t>
            </a:r>
            <a:endParaRPr lang="en-US" sz="3600" dirty="0"/>
          </a:p>
        </p:txBody>
      </p:sp>
      <p:sp>
        <p:nvSpPr>
          <p:cNvPr id="3" name="Error table caption"/>
          <p:cNvSpPr txBox="1"/>
          <p:nvPr/>
        </p:nvSpPr>
        <p:spPr>
          <a:xfrm>
            <a:off x="548640" y="14630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5 errors, Linear Regression, all at Kusum (West Rapti), m³/s</a:t>
            </a:r>
            <a:endParaRPr lang="en-US" sz="1400" dirty="0"/>
          </a:p>
        </p:txBody>
      </p:sp>
      <p:graphicFrame>
        <p:nvGraphicFramePr>
          <p:cNvPr id="9" name="Largest erro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Actual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Predicted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Error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2024-09-12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661.2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213.0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+448.2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2024-07-06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1,736.8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1,366.0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+370.8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2025-07-12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482.1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218.0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+264.1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2024-08-10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662.7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518.2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+144.6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2026-08-03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335.5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234.4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+101.2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Error note card"/>
          <p:cNvSpPr/>
          <p:nvPr/>
        </p:nvSpPr>
        <p:spPr>
          <a:xfrm>
            <a:off x="548640" y="4937760"/>
            <a:ext cx="67665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Error note text"/>
          <p:cNvSpPr txBox="1"/>
          <p:nvPr/>
        </p:nvSpPr>
        <p:spPr>
          <a:xfrm>
            <a:off x="777240" y="49377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five dates fall in July–September. The model under-predicts sharp rises; dates are shown after correcting the day/month swap (see caveats).</a:t>
            </a:r>
            <a:endParaRPr lang="en-US" sz="1400" dirty="0"/>
          </a:p>
        </p:txBody>
      </p:sp>
      <p:sp>
        <p:nvSpPr>
          <p:cNvPr id="7" name="Error stat 1 card"/>
          <p:cNvSpPr/>
          <p:nvPr/>
        </p:nvSpPr>
        <p:spPr>
          <a:xfrm>
            <a:off x="7680960" y="150876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Error stat 1 value"/>
          <p:cNvSpPr txBox="1"/>
          <p:nvPr/>
        </p:nvSpPr>
        <p:spPr>
          <a:xfrm>
            <a:off x="7863840" y="1645920"/>
            <a:ext cx="359359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+448</a:t>
            </a:r>
            <a:endParaRPr lang="en-US" sz="4000" dirty="0"/>
          </a:p>
        </p:txBody>
      </p:sp>
      <p:sp>
        <p:nvSpPr>
          <p:cNvPr id="9" name="Error stat 1 label"/>
          <p:cNvSpPr txBox="1"/>
          <p:nvPr/>
        </p:nvSpPr>
        <p:spPr>
          <a:xfrm>
            <a:off x="7863840" y="2382926"/>
            <a:ext cx="359359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largest under-prediction (m³/s)</a:t>
            </a:r>
            <a:endParaRPr lang="en-US" sz="1500" dirty="0"/>
          </a:p>
        </p:txBody>
      </p:sp>
      <p:sp>
        <p:nvSpPr>
          <p:cNvPr id="10" name="Error stat 2 card"/>
          <p:cNvSpPr/>
          <p:nvPr/>
        </p:nvSpPr>
        <p:spPr>
          <a:xfrm>
            <a:off x="7680960" y="306324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Error stat 2 value"/>
          <p:cNvSpPr txBox="1"/>
          <p:nvPr/>
        </p:nvSpPr>
        <p:spPr>
          <a:xfrm>
            <a:off x="7863840" y="3200400"/>
            <a:ext cx="359359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−76</a:t>
            </a:r>
            <a:endParaRPr lang="en-US" sz="4000" dirty="0"/>
          </a:p>
        </p:txBody>
      </p:sp>
      <p:sp>
        <p:nvSpPr>
          <p:cNvPr id="12" name="Error stat 2 label"/>
          <p:cNvSpPr txBox="1"/>
          <p:nvPr/>
        </p:nvSpPr>
        <p:spPr>
          <a:xfrm>
            <a:off x="7863840" y="3937406"/>
            <a:ext cx="359359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largest over-prediction (m³/s)</a:t>
            </a:r>
            <a:endParaRPr lang="en-US" sz="1500" dirty="0"/>
          </a:p>
        </p:txBody>
      </p:sp>
      <p:sp>
        <p:nvSpPr>
          <p:cNvPr id="13" name="Error stat 3 card"/>
          <p:cNvSpPr/>
          <p:nvPr/>
        </p:nvSpPr>
        <p:spPr>
          <a:xfrm>
            <a:off x="7680960" y="4617720"/>
            <a:ext cx="3959352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14" name="Error stat 3 value"/>
          <p:cNvSpPr txBox="1"/>
          <p:nvPr/>
        </p:nvSpPr>
        <p:spPr>
          <a:xfrm>
            <a:off x="7863840" y="4754880"/>
            <a:ext cx="359359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10</a:t>
            </a:r>
            <a:endParaRPr lang="en-US" sz="4000" dirty="0"/>
          </a:p>
        </p:txBody>
      </p:sp>
      <p:sp>
        <p:nvSpPr>
          <p:cNvPr id="15" name="Error stat 3 label"/>
          <p:cNvSpPr txBox="1"/>
          <p:nvPr/>
        </p:nvSpPr>
        <p:spPr>
          <a:xfrm>
            <a:off x="7863840" y="5491886"/>
            <a:ext cx="359359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largest errors are at Kusum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Caveats to fix before trusting the numbers</a:t>
            </a:r>
            <a:endParaRPr lang="en-US" sz="3600" dirty="0"/>
          </a:p>
        </p:txBody>
      </p:sp>
      <p:sp>
        <p:nvSpPr>
          <p:cNvPr id="3" name="Caveat 1 card"/>
          <p:cNvSpPr/>
          <p:nvPr/>
        </p:nvSpPr>
        <p:spPr>
          <a:xfrm>
            <a:off x="548640" y="150876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Caveat 1 badge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Caveat 1 number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Caveat 1 title"/>
          <p:cNvSpPr txBox="1"/>
          <p:nvPr/>
        </p:nvSpPr>
        <p:spPr>
          <a:xfrm>
            <a:off x="1508760" y="17373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parsing drops 61% of rows</a:t>
            </a:r>
            <a:endParaRPr lang="en-US" sz="1800" dirty="0"/>
          </a:p>
        </p:txBody>
      </p:sp>
      <p:sp>
        <p:nvSpPr>
          <p:cNvPr id="7" name="Caveat 1 text"/>
          <p:cNvSpPr txBox="1"/>
          <p:nvPr/>
        </p:nvSpPr>
        <p:spPr>
          <a:xfrm>
            <a:off x="822960" y="237744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dayfirst=True on ISO dates swaps day and month for days 1–12 and fails for 13–31. Only 5,280 of 13,390 rows are used and “month” is really day-of-month.</a:t>
            </a:r>
            <a:endParaRPr lang="en-US" sz="1500" dirty="0"/>
          </a:p>
        </p:txBody>
      </p:sp>
      <p:sp>
        <p:nvSpPr>
          <p:cNvPr id="8" name="Caveat 2 card"/>
          <p:cNvSpPr/>
          <p:nvPr/>
        </p:nvSpPr>
        <p:spPr>
          <a:xfrm>
            <a:off x="6231636" y="150876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Caveat 2 badge"/>
          <p:cNvSpPr/>
          <p:nvPr/>
        </p:nvSpPr>
        <p:spPr>
          <a:xfrm>
            <a:off x="6460236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Caveat 2 number"/>
          <p:cNvSpPr txBox="1"/>
          <p:nvPr/>
        </p:nvSpPr>
        <p:spPr>
          <a:xfrm>
            <a:off x="646023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Caveat 2 title"/>
          <p:cNvSpPr txBox="1"/>
          <p:nvPr/>
        </p:nvSpPr>
        <p:spPr>
          <a:xfrm>
            <a:off x="7191756" y="173736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leakage in classification</a:t>
            </a:r>
            <a:endParaRPr lang="en-US" sz="1800" dirty="0"/>
          </a:p>
        </p:txBody>
      </p:sp>
      <p:sp>
        <p:nvSpPr>
          <p:cNvPr id="12" name="Caveat 2 text"/>
          <p:cNvSpPr txBox="1"/>
          <p:nvPr/>
        </p:nvSpPr>
        <p:spPr>
          <a:xfrm>
            <a:off x="6505956" y="237744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label is defined from river discharge, which is also an input. Near-perfect scores are expected.</a:t>
            </a:r>
            <a:endParaRPr lang="en-US" sz="1500" dirty="0"/>
          </a:p>
        </p:txBody>
      </p:sp>
      <p:sp>
        <p:nvSpPr>
          <p:cNvPr id="13" name="Caveat 3 card"/>
          <p:cNvSpPr/>
          <p:nvPr/>
        </p:nvSpPr>
        <p:spPr>
          <a:xfrm>
            <a:off x="548640" y="361188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Caveat 3 badge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Caveat 3 number"/>
          <p:cNvSpPr txBox="1"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Caveat 3 title"/>
          <p:cNvSpPr txBox="1"/>
          <p:nvPr/>
        </p:nvSpPr>
        <p:spPr>
          <a:xfrm>
            <a:off x="1508760" y="38404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predictions scored</a:t>
            </a:r>
            <a:endParaRPr lang="en-US" sz="1800" dirty="0"/>
          </a:p>
        </p:txBody>
      </p:sp>
      <p:sp>
        <p:nvSpPr>
          <p:cNvPr id="17" name="Caveat 3 text"/>
          <p:cNvSpPr txBox="1"/>
          <p:nvPr/>
        </p:nvSpPr>
        <p:spPr>
          <a:xfrm>
            <a:off x="822960" y="448056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Decision Tree and Random Forest metrics reuse the logistic model’s predictions, so all three rows match.</a:t>
            </a:r>
            <a:endParaRPr lang="en-US" sz="1500" dirty="0"/>
          </a:p>
        </p:txBody>
      </p:sp>
      <p:sp>
        <p:nvSpPr>
          <p:cNvPr id="18" name="Caveat 4 card"/>
          <p:cNvSpPr/>
          <p:nvPr/>
        </p:nvSpPr>
        <p:spPr>
          <a:xfrm>
            <a:off x="6231636" y="3611880"/>
            <a:ext cx="5408676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Caveat 4 badge"/>
          <p:cNvSpPr/>
          <p:nvPr/>
        </p:nvSpPr>
        <p:spPr>
          <a:xfrm>
            <a:off x="6460236" y="38404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Caveat 4 number"/>
          <p:cNvSpPr txBox="1"/>
          <p:nvPr/>
        </p:nvSpPr>
        <p:spPr>
          <a:xfrm>
            <a:off x="6460236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Caveat 4 title"/>
          <p:cNvSpPr txBox="1"/>
          <p:nvPr/>
        </p:nvSpPr>
        <p:spPr>
          <a:xfrm>
            <a:off x="7191756" y="38404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and threshold choices</a:t>
            </a:r>
            <a:endParaRPr lang="en-US" sz="1800" dirty="0"/>
          </a:p>
        </p:txBody>
      </p:sp>
      <p:sp>
        <p:nvSpPr>
          <p:cNvPr id="22" name="Caveat 4 text"/>
          <p:cNvSpPr txBox="1"/>
          <p:nvPr/>
        </p:nvSpPr>
        <p:spPr>
          <a:xfrm>
            <a:off x="6505956" y="4480560"/>
            <a:ext cx="4860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Random split on time-series data; the 90th-percentile threshold is global, not per station.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Next steps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Fix date parsing with pd.to_datetime(df['date']) and re-run both notebooks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Use a chronological split and per-station thresholds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Drop current discharge from the classifier, or predict tomorrow’s class</a:t>
            </a:r>
            <a:endParaRPr lang="en-US" sz="2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Add rolling rainfall and soil-moisture features; check monsoon extremes separately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od Watch">
  <a:themeElements>
    <a:clrScheme name="Flood Watch">
      <a:dk1>
        <a:srgbClr val="0B2A4A"/>
      </a:dk1>
      <a:lt1>
        <a:srgbClr val="FFFFFF"/>
      </a:lt1>
      <a:dk2>
        <a:srgbClr val="1C7293"/>
      </a:dk2>
      <a:lt2>
        <a:srgbClr val="EAF3F8"/>
      </a:lt2>
      <a:accent1>
        <a:srgbClr val="1C7293"/>
      </a:accent1>
      <a:accent2>
        <a:srgbClr val="F2A33A"/>
      </a:accent2>
      <a:accent3>
        <a:srgbClr val="0B2A4A"/>
      </a:accent3>
      <a:accent4>
        <a:srgbClr val="5BA4C4"/>
      </a:accent4>
      <a:accent5>
        <a:srgbClr val="C8453B"/>
      </a:accent5>
      <a:accent6>
        <a:srgbClr val="7FB7A4"/>
      </a:accent6>
      <a:hlink>
        <a:srgbClr val="1C7293"/>
      </a:hlink>
      <a:folHlink>
        <a:srgbClr val="5BA4C4"/>
      </a:folHlink>
    </a:clrScheme>
    <a:fontScheme name="Flood 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Nepal River Flood Prediction</dc:title>
  <dc:subject>PptxGenJS Presentation</dc:subject>
  <dc:creator>PptxGenJS</dc:creator>
  <cp:lastModifiedBy>PptxGenJS</cp:lastModifiedBy>
  <cp:revision>1</cp:revision>
  <dcterms:created xsi:type="dcterms:W3CDTF">2026-10-18T19:17:51Z</dcterms:created>
  <dcterms:modified xsi:type="dcterms:W3CDTF">2026-10-18T19:17:51Z</dcterms:modified>
</cp:coreProperties>
</file>